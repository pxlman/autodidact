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59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184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7029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5A578-412B-A8FE-4949-4B5AFB431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C779A6-7F5F-29EC-6C70-B5C65DEDF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2C368A-E8FB-DFF6-8856-78150F8D0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44B73-270B-1579-8461-17E7F903EA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175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274320"/>
            <a:ext cx="2560320" cy="411480"/>
          </a:xfrm>
          <a:prstGeom prst="roundRect">
            <a:avLst>
              <a:gd name="adj" fmla="val 44444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61120" y="274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⭐ Vietnam AI Stars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164592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</a:rPr>
              <a:t>Autodidact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0" y="246888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999AA"/>
                </a:solidFill>
              </a:rPr>
              <a:t>The </a:t>
            </a:r>
            <a:r>
              <a:rPr lang="en-US" sz="2200" b="1" dirty="0">
                <a:solidFill>
                  <a:srgbClr val="6C5CE7"/>
                </a:solidFill>
              </a:rPr>
              <a:t>Local-First AI Agent</a:t>
            </a:r>
            <a:r>
              <a:rPr lang="en-US" sz="2200" dirty="0">
                <a:solidFill>
                  <a:srgbClr val="9999AA"/>
                </a:solidFill>
              </a:rPr>
              <a:t> That Actually Learns and Evolves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301752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Think first. Search or ask when uncertain. Always learn.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3931920"/>
            <a:ext cx="2377440" cy="502920"/>
          </a:xfrm>
          <a:prstGeom prst="roundRect">
            <a:avLst>
              <a:gd name="adj" fmla="val 45455"/>
            </a:avLst>
          </a:prstGeom>
          <a:solidFill>
            <a:srgbClr val="252540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3931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</a:rPr>
              <a:t>🧠  Local Model Intelligence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3931920"/>
            <a:ext cx="2377440" cy="502920"/>
          </a:xfrm>
          <a:prstGeom prst="roundRect">
            <a:avLst>
              <a:gd name="adj" fmla="val 45455"/>
            </a:avLst>
          </a:prstGeom>
          <a:solidFill>
            <a:srgbClr val="252540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49040" y="3931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</a:rPr>
              <a:t>💾  Persistent Memory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3931920"/>
            <a:ext cx="2377440" cy="502920"/>
          </a:xfrm>
          <a:prstGeom prst="roundRect">
            <a:avLst>
              <a:gd name="adj" fmla="val 45455"/>
            </a:avLst>
          </a:prstGeom>
          <a:solidFill>
            <a:srgbClr val="252540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3931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</a:rPr>
              <a:t>🔄  Continuous Learning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3931920"/>
            <a:ext cx="2377440" cy="502920"/>
          </a:xfrm>
          <a:prstGeom prst="roundRect">
            <a:avLst>
              <a:gd name="adj" fmla="val 45455"/>
            </a:avLst>
          </a:prstGeom>
          <a:solidFill>
            <a:srgbClr val="252540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52560" y="3931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</a:rPr>
              <a:t>💰  Cost Optimization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53035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80"/>
                </a:solidFill>
              </a:rPr>
              <a:t>TEAM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666680"/>
                </a:solidFill>
              </a:rPr>
              <a:t>Ngoc Luong (Paul) Nguyen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AA"/>
                </a:solidFill>
              </a:rPr>
              <a:t>AI agents are expensive and forgetful. They never learn.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961120" y="274320"/>
            <a:ext cx="2560320" cy="411480"/>
          </a:xfrm>
          <a:prstGeom prst="roundRect">
            <a:avLst>
              <a:gd name="adj" fmla="val 44444"/>
            </a:avLst>
          </a:prstGeom>
          <a:solidFill>
            <a:srgbClr val="FFA5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0" y="274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Cost 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029200" cy="2377440"/>
          </a:xfrm>
          <a:prstGeom prst="roundRect">
            <a:avLst>
              <a:gd name="adj" fmla="val 5769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320040" cy="320040"/>
          </a:xfrm>
          <a:prstGeom prst="ellipse">
            <a:avLst/>
          </a:prstGeom>
          <a:solidFill>
            <a:srgbClr val="FFA5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41732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Cloud API Costs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›"/>
            </a:pPr>
            <a:r>
              <a:rPr lang="en-US" sz="1300" dirty="0">
                <a:solidFill>
                  <a:srgbClr val="E0E0E0"/>
                </a:solidFill>
              </a:rPr>
              <a:t>  Every query hits a cloud API — GPT-4o, Claude — $0.01–$0.10 / call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›"/>
            </a:pPr>
            <a:r>
              <a:rPr lang="en-US" sz="1300" dirty="0">
                <a:solidFill>
                  <a:srgbClr val="FF6B6B"/>
                </a:solidFill>
              </a:rPr>
              <a:t>  Agents never learn — ask the same thing tomorrow?  Same cost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›"/>
            </a:pPr>
            <a:r>
              <a:rPr lang="en-US" sz="1300" dirty="0">
                <a:solidFill>
                  <a:srgbClr val="E0E0E0"/>
                </a:solidFill>
              </a:rPr>
              <a:t>  Scaling creates a permanent $1k–$3k/mo baseline cost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5029200" cy="1371600"/>
          </a:xfrm>
          <a:prstGeom prst="roundRect">
            <a:avLst>
              <a:gd name="adj" fmla="val 10000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320040" cy="3200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0050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9776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Learning Gap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3891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›"/>
            </a:pPr>
            <a:r>
              <a:rPr lang="en-US" sz="1300" dirty="0">
                <a:solidFill>
                  <a:srgbClr val="E0E0E0"/>
                </a:solidFill>
              </a:rPr>
              <a:t>  Humans ask questions at first, but they eventually learn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›"/>
            </a:pPr>
            <a:r>
              <a:rPr lang="en-US" sz="1300" dirty="0">
                <a:solidFill>
                  <a:srgbClr val="FF6B6B"/>
                </a:solidFill>
              </a:rPr>
              <a:t>  They stop asking the same things. AI agents don't.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60720" y="1280160"/>
            <a:ext cx="5669280" cy="2377440"/>
          </a:xfrm>
          <a:prstGeom prst="roundRect">
            <a:avLst>
              <a:gd name="adj" fmla="val 5769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0" y="146304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0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📊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Cost: Human vs Static AI Agent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35040" y="1920240"/>
            <a:ext cx="5120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9999AA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9999AA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9999AA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9999AA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9999AA"/>
                </a:solidFill>
              </a:rPr>
              <a:t>Human (Learning Curve): Costs decline over time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999AA"/>
                </a:solidFill>
              </a:rPr>
              <a:t>as employee learns and becomes autonomous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999AA"/>
                </a:solidFill>
              </a:rPr>
              <a:t>Standard AI (Flat Cost): Every query = same price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999AA"/>
                </a:solidFill>
              </a:rPr>
              <a:t>No learning, no improvement, no memory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486400"/>
            <a:ext cx="2743200" cy="731520"/>
          </a:xfrm>
          <a:prstGeom prst="roundRect">
            <a:avLst>
              <a:gd name="adj" fmla="val 18750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5440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6B6B"/>
                </a:solidFill>
              </a:rPr>
              <a:t>$24,000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57200" y="5806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AA"/>
                </a:solidFill>
              </a:rPr>
              <a:t>Annual Baseline (Static Cost)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0" y="5486400"/>
            <a:ext cx="2743200" cy="731520"/>
          </a:xfrm>
          <a:prstGeom prst="roundRect">
            <a:avLst>
              <a:gd name="adj" fmla="val 18750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74720" y="5440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D68F"/>
                </a:solidFill>
              </a:rPr>
              <a:t>$4,320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474720" y="5806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AA"/>
                </a:solidFill>
              </a:rPr>
              <a:t>With Autodidact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92240" y="5486400"/>
            <a:ext cx="2743200" cy="731520"/>
          </a:xfrm>
          <a:prstGeom prst="roundRect">
            <a:avLst>
              <a:gd name="adj" fmla="val 18750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92240" y="5440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D68F"/>
                </a:solidFill>
              </a:rPr>
              <a:t>82% Savings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492240" y="5806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AA"/>
                </a:solidFill>
              </a:rPr>
              <a:t>~$19,700/year saved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Insight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AA"/>
                </a:solidFill>
              </a:rPr>
              <a:t>Brains are awesome. We wish your agent had 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961120" y="274320"/>
            <a:ext cx="2560320" cy="411480"/>
          </a:xfrm>
          <a:prstGeom prst="roundRect">
            <a:avLst>
              <a:gd name="adj" fmla="val 44444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0" y="274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🧠 Brain-First Workflow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029200" cy="2011680"/>
          </a:xfrm>
          <a:prstGeom prst="roundRect">
            <a:avLst>
              <a:gd name="adj" fmla="val 6818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320040" cy="32004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41732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Realization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4480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>
              <a:solidFill>
                <a:srgbClr val="E0E0E0"/>
              </a:solidFill>
            </a:endParaRPr>
          </a:p>
          <a:p>
            <a:pPr marL="0" indent="0">
              <a:buNone/>
            </a:pPr>
            <a:endParaRPr lang="en-US" sz="1300" dirty="0">
              <a:solidFill>
                <a:srgbClr val="E0E0E0"/>
              </a:solidFill>
            </a:endParaRPr>
          </a:p>
          <a:p>
            <a:pPr marL="0" indent="0">
              <a:buNone/>
            </a:pPr>
            <a:endParaRPr lang="en-US" sz="1300" dirty="0">
              <a:solidFill>
                <a:srgbClr val="E0E0E0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</a:rPr>
              <a:t>A local model running on your machine is like a human brain — it can think, reason, and respond. But most agents skip the brain entirely and go straight to the cloud for every question.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5029200" cy="22860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320040" cy="32004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6393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61188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Human-Like Workflow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02336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D68F"/>
                </a:solidFill>
              </a:rPr>
              <a:t>✅ Think first: </a:t>
            </a:r>
            <a:r>
              <a:rPr lang="en-US" sz="1300" dirty="0">
                <a:solidFill>
                  <a:srgbClr val="E0E0E0"/>
                </a:solidFill>
              </a:rPr>
              <a:t>Check if you know the answer from memory
</a:t>
            </a:r>
            <a:r>
              <a:rPr lang="en-US" sz="1300" b="1" dirty="0">
                <a:solidFill>
                  <a:srgbClr val="FFA502"/>
                </a:solidFill>
              </a:rPr>
              <a:t>🔍 Ask when uncertain: </a:t>
            </a:r>
            <a:r>
              <a:rPr lang="en-US" sz="1300" dirty="0">
                <a:solidFill>
                  <a:srgbClr val="E0E0E0"/>
                </a:solidFill>
              </a:rPr>
              <a:t>Search or ask for help only when needed
</a:t>
            </a:r>
            <a:r>
              <a:rPr lang="en-US" sz="1300" b="1" dirty="0">
                <a:solidFill>
                  <a:srgbClr val="4A90D9"/>
                </a:solidFill>
              </a:rPr>
              <a:t>📚 Always learn: </a:t>
            </a:r>
            <a:r>
              <a:rPr lang="en-US" sz="1300" dirty="0">
                <a:solidFill>
                  <a:srgbClr val="E0E0E0"/>
                </a:solidFill>
              </a:rPr>
              <a:t>Remember what you learned for next time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82640" y="1280160"/>
            <a:ext cx="5669280" cy="4480560"/>
          </a:xfrm>
          <a:prstGeom prst="roundRect">
            <a:avLst>
              <a:gd name="adj" fmla="val 3061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943600" y="146304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0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42760" y="1277451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Autodidact Brain-First Learning Loop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0" y="230617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2A2A4A"/>
          </a:solidFill>
          <a:ln w="1905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00800" y="2291379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📚 Memory Store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2423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>
              <a:solidFill>
                <a:srgbClr val="9999AA"/>
              </a:solidFill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9999AA"/>
                </a:solidFill>
              </a:rPr>
              <a:t>Knowledge &amp; Skills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999AA"/>
                </a:solidFill>
              </a:rPr>
              <a:t>SQLite database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144000" y="230617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2A2A4A"/>
          </a:solidFill>
          <a:ln w="19050">
            <a:solidFill>
              <a:srgbClr val="FFA5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0" y="2283313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☁️ Cloud/Search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221993" y="256839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AA"/>
                </a:solidFill>
              </a:rPr>
              <a:t>GPT-4o, Claude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999AA"/>
                </a:solidFill>
              </a:rPr>
              <a:t>Web Search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831568" y="4678222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2A2A4A"/>
          </a:solidFill>
          <a:ln w="19050">
            <a:solidFill>
              <a:srgbClr val="00D6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67022" y="468092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🔄 Learn &amp; Store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815431" y="49814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AA"/>
                </a:solidFill>
              </a:rPr>
              <a:t>Extract knowledge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999AA"/>
                </a:solidFill>
              </a:rPr>
              <a:t>from answers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83680" y="2003612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AA"/>
                </a:solidFill>
              </a:rPr>
              <a:t>1. Check memory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348844" y="2003612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AA"/>
                </a:solidFill>
              </a:rPr>
              <a:t>2. Escalate if uncertain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5471" y="4440219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AA"/>
                </a:solidFill>
              </a:rPr>
              <a:t>3. Learn from answer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135471" y="3446491"/>
            <a:ext cx="1371600" cy="64008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135471" y="3330837"/>
            <a:ext cx="1371600" cy="864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🧠 Local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Why Now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AA"/>
                </a:solidFill>
              </a:rPr>
              <a:t>The window is open — and it won't stay open long.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961120" y="274320"/>
            <a:ext cx="2560320" cy="411480"/>
          </a:xfrm>
          <a:prstGeom prst="roundRect">
            <a:avLst>
              <a:gd name="adj" fmla="val 44444"/>
            </a:avLst>
          </a:prstGeom>
          <a:solidFill>
            <a:srgbClr val="FFA5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0" y="274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⏰ Market Timing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94960" cy="1828800"/>
          </a:xfrm>
          <a:prstGeom prst="roundRect">
            <a:avLst>
              <a:gd name="adj" fmla="val 7500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320040" cy="320040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4173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Local Models Ready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068158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>
              <a:solidFill>
                <a:srgbClr val="E0E0E0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</a:rPr>
              <a:t>Llama 3, Mistral, Phi-3 can genuinely reason. Two years ago, too weak.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5394960" cy="1828800"/>
          </a:xfrm>
          <a:prstGeom prst="roundRect">
            <a:avLst>
              <a:gd name="adj" fmla="val 7500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0" y="1463040"/>
            <a:ext cx="320040" cy="3200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0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12280" y="14173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Cloud Costs at Peak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062779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</a:rPr>
              <a:t>$5–$15 per million tokens. Enterprises actively seeking alternatives.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5394960" cy="1828800"/>
          </a:xfrm>
          <a:prstGeom prst="roundRect">
            <a:avLst>
              <a:gd name="adj" fmla="val 7500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356616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547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5204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On-Device AI Exploding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125558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>
              <a:solidFill>
                <a:srgbClr val="E0E0E0"/>
              </a:solidFill>
            </a:endParaRPr>
          </a:p>
          <a:p>
            <a:pPr marL="0" indent="0">
              <a:buNone/>
            </a:pPr>
            <a:r>
              <a:rPr lang="en-US" sz="1300" dirty="0" err="1">
                <a:solidFill>
                  <a:srgbClr val="E0E0E0"/>
                </a:solidFill>
              </a:rPr>
              <a:t>Ollama</a:t>
            </a:r>
            <a:r>
              <a:rPr lang="en-US" sz="1300" dirty="0">
                <a:solidFill>
                  <a:srgbClr val="E0E0E0"/>
                </a:solidFill>
              </a:rPr>
              <a:t>: 100K+ GitHub stars. Apple Intelligence on-device. Infrastructure ready.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3383280"/>
            <a:ext cx="5394960" cy="1828800"/>
          </a:xfrm>
          <a:prstGeom prst="roundRect">
            <a:avLst>
              <a:gd name="adj" fmla="val 7500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0800" y="3566160"/>
            <a:ext cx="320040" cy="32004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3547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🎯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2280" y="35204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Gap Wide Open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92240" y="4125558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>
              <a:solidFill>
                <a:srgbClr val="E0E0E0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</a:rPr>
              <a:t>Frameworks help build agents. None make them learn and improve over time.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56692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80"/>
                </a:solidFill>
              </a:rPr>
              <a:t>Two years ago, not possible. Two years from now, someone else will have built it.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AA"/>
                </a:solidFill>
              </a:rPr>
              <a:t>Think first. Ask when uncertain. Always learn.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961120" y="274320"/>
            <a:ext cx="2560320" cy="411480"/>
          </a:xfrm>
          <a:prstGeom prst="roundRect">
            <a:avLst>
              <a:gd name="adj" fmla="val 44444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0" y="274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🚀 Core Architecture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 w="19050">
            <a:solidFill>
              <a:srgbClr val="00D68F"/>
            </a:solidFill>
            <a:prstDash val="solid"/>
          </a:ln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320040" cy="320040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4173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Think First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458123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</a:rPr>
              <a:t>Local model thinks and checks its memory.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</a:rPr>
              <a:t>If confident → answer immediately.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</a:rPr>
              <a:t>Cost: $0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0" y="128016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 w="19050">
            <a:solidFill>
              <a:srgbClr val="FFA502"/>
            </a:solidFill>
            <a:prstDash val="solid"/>
          </a:ln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89120" y="1463040"/>
            <a:ext cx="320040" cy="320040"/>
          </a:xfrm>
          <a:prstGeom prst="ellipse">
            <a:avLst/>
          </a:prstGeom>
          <a:solidFill>
            <a:srgbClr val="FFA5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0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4173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Ask When Uncertain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2318274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</a:rPr>
              <a:t>Searches internet or asks cloud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</a:rPr>
              <a:t>model (GPT-4o, Claude).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</a:rPr>
              <a:t>Just like a person would.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28016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 w="19050">
            <a:solidFill>
              <a:srgbClr val="4A90D9"/>
            </a:solidFill>
            <a:prstDash val="solid"/>
          </a:ln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38160" y="146304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138160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49640" y="14173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Always Learn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0" y="2345168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</a:rPr>
              <a:t>Extracts knowledge from every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</a:rPr>
              <a:t>answer. Stores it locally.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</a:rPr>
              <a:t>Learning is permanent.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7680" y="4434841"/>
            <a:ext cx="10972800" cy="1097280"/>
          </a:xfrm>
          <a:prstGeom prst="roundRect">
            <a:avLst>
              <a:gd name="adj" fmla="val 12500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5015754"/>
            <a:ext cx="10424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Over time, the brain gets smarter. It asks less. It handles more on its own. Cloud costs drop. Privacy improves naturally.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How It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AA"/>
                </a:solidFill>
              </a:rPr>
              <a:t>The learning loop in detail.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961120" y="274320"/>
            <a:ext cx="2560320" cy="411480"/>
          </a:xfrm>
          <a:prstGeom prst="roundRect">
            <a:avLst>
              <a:gd name="adj" fmla="val 44444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0" y="274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⚙️ Technical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0972800" cy="3200400"/>
          </a:xfrm>
          <a:prstGeom prst="roundRect">
            <a:avLst>
              <a:gd name="adj" fmla="val 4286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424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comes in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🧠 Brain thinks first, checks memory &amp; skills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Confidence Evaluator decides: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→ 🟢 CONFIDENT: Answer from brain + memory ($0)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→ 🔴 NOT CONFIDENT: Ask cloud model or search web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→ Extract knowledge &amp; skills from response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→ Store in local memory 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time → answer locally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4754880"/>
            <a:ext cx="3474720" cy="1188720"/>
          </a:xfrm>
          <a:prstGeom prst="roundRect">
            <a:avLst>
              <a:gd name="adj" fmla="val 11538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5008418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5CE7"/>
                </a:solidFill>
              </a:rPr>
              <a:t>Thompson Sampling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411586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AA"/>
                </a:solidFill>
              </a:rPr>
              <a:t>Agent learns which signals to trust. No manual tuning needed.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4754880"/>
            <a:ext cx="3474720" cy="1188720"/>
          </a:xfrm>
          <a:prstGeom prst="roundRect">
            <a:avLst>
              <a:gd name="adj" fmla="val 11538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5008418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</a:rPr>
              <a:t>Ebbinghaus Decay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539219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AA"/>
                </a:solidFill>
              </a:rPr>
              <a:t>Frequently-used knowledge sticks. Stale knowledge fades naturally.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4754880"/>
            <a:ext cx="3474720" cy="1188720"/>
          </a:xfrm>
          <a:prstGeom prst="roundRect">
            <a:avLst>
              <a:gd name="adj" fmla="val 11538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38160" y="5008418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68F"/>
                </a:solidFill>
              </a:rPr>
              <a:t>Cost-Aware Routing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0" y="5386648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AA"/>
                </a:solidFill>
              </a:rPr>
              <a:t>When escalating, tries cheapest model first. Failover on error.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Live Demo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AA"/>
                </a:solidFill>
              </a:rPr>
              <a:t>The agent learns in real time.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961120" y="274320"/>
            <a:ext cx="2560320" cy="411480"/>
          </a:xfrm>
          <a:prstGeom prst="roundRect">
            <a:avLst>
              <a:gd name="adj" fmla="val 44444"/>
            </a:avLst>
          </a:prstGeom>
          <a:solidFill>
            <a:srgbClr val="00D6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0" y="274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🎬 Demo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03520" cy="5467004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 w="19050">
            <a:solidFill>
              <a:srgbClr val="FF6B6B"/>
            </a:solidFill>
            <a:prstDash val="solid"/>
          </a:ln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320040" cy="3200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4173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Act 1: Empty Brain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044931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9999AA"/>
                </a:solidFill>
              </a:rPr>
              <a:t>"What are the key regulations and compliance requirements for launching a fintech startup in Vietnam??"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41120" y="2377447"/>
            <a:ext cx="3618807" cy="42062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b="1" dirty="0">
                <a:solidFill>
                  <a:schemeClr val="bg1"/>
                </a:solidFill>
              </a:rPr>
              <a:t>──────────────────────────────────────────────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🧠 THINKING </a:t>
            </a:r>
            <a:r>
              <a:rPr lang="en-US" sz="1100" b="1" dirty="0">
                <a:solidFill>
                  <a:schemeClr val="bg1">
                    <a:lumMod val="50000"/>
                  </a:schemeClr>
                </a:solidFill>
              </a:rPr>
              <a:t>(local model)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──────────────────────────────────────────────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  Confidence: 0.000 ❌ </a:t>
            </a:r>
            <a:r>
              <a:rPr lang="en-US" sz="1100" b="1" dirty="0">
                <a:solidFill>
                  <a:srgbClr val="FF0000"/>
                </a:solidFill>
              </a:rPr>
              <a:t>LOW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  Decision: 🔴 </a:t>
            </a:r>
            <a:r>
              <a:rPr lang="en-US" sz="1100" b="1" dirty="0">
                <a:solidFill>
                  <a:srgbClr val="FF0000"/>
                </a:solidFill>
              </a:rPr>
              <a:t>ESCALATE to cloud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──────────────────────────────────────────────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☁️  CLOUD CALL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──────────────────────────────────────────────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  Model: us.anthropic.claude-3-5-haiku-20241022-v1:0</a:t>
            </a:r>
          </a:p>
          <a:p>
            <a:r>
              <a:rPr lang="en-US" sz="1100" b="1" dirty="0">
                <a:solidFill>
                  <a:schemeClr val="bg1">
                    <a:lumMod val="50000"/>
                  </a:schemeClr>
                </a:solidFill>
              </a:rPr>
              <a:t>  Waiting for response...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  Latency: 6.5s</a:t>
            </a:r>
          </a:p>
          <a:p>
            <a:r>
              <a:rPr lang="en-US" sz="1100" b="1" dirty="0">
                <a:solidFill>
                  <a:srgbClr val="FF0000"/>
                </a:solidFill>
              </a:rPr>
              <a:t>  Cost: $0.0016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  📝 Extraction: 3 knowledge entries extracted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──────────────────────────────────────────────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📚 LEARNING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──────────────────────────────────────────────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  Extracted: </a:t>
            </a:r>
            <a:r>
              <a:rPr lang="en-US" sz="1100" b="1" dirty="0">
                <a:solidFill>
                  <a:schemeClr val="accent6"/>
                </a:solidFill>
              </a:rPr>
              <a:t>3 knowledge entries</a:t>
            </a:r>
          </a:p>
          <a:p>
            <a:r>
              <a:rPr lang="en-US" sz="1100" b="1" dirty="0">
                <a:solidFill>
                  <a:schemeClr val="bg1">
                    <a:lumMod val="50000"/>
                  </a:schemeClr>
                </a:solidFill>
              </a:rPr>
              <a:t>  Stored in local memory for future use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──────────────────────────────────────────────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✅ ANSWER</a:t>
            </a:r>
          </a:p>
          <a:p>
            <a:r>
              <a:rPr lang="en-US" sz="1100" dirty="0">
                <a:solidFill>
                  <a:schemeClr val="bg1"/>
                </a:solidFill>
              </a:rPr>
              <a:t>──────────────────────────────────────────────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Launching a fintech startup in Vietnam involves navigating several key regulations and compliance requirements. Here's a comprehensive overview:</a:t>
            </a:r>
          </a:p>
          <a:p>
            <a:r>
              <a:rPr lang="en-US" sz="11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5303520" cy="5467004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 w="19050">
            <a:solidFill>
              <a:srgbClr val="00D68F"/>
            </a:solidFill>
            <a:prstDash val="solid"/>
          </a:ln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309360" y="1463040"/>
            <a:ext cx="320040" cy="320040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20840" y="14173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Act 2: Brain Remembers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044931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9999AA"/>
                </a:solidFill>
              </a:rPr>
              <a:t>"What compliance does a Vietnamese payment app need before launch??"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79920" y="2361100"/>
            <a:ext cx="3549535" cy="40094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chemeClr val="bg1"/>
                </a:solidFill>
              </a:rPr>
              <a:t>──────────────────────────────────────────────</a:t>
            </a:r>
          </a:p>
          <a:p>
            <a:r>
              <a:rPr lang="en-US" sz="1100" dirty="0">
                <a:solidFill>
                  <a:schemeClr val="bg1"/>
                </a:solidFill>
              </a:rPr>
              <a:t>🧠 THINKING 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(local model)</a:t>
            </a:r>
          </a:p>
          <a:p>
            <a:r>
              <a:rPr lang="en-US" sz="1100" dirty="0">
                <a:solidFill>
                  <a:schemeClr val="bg1"/>
                </a:solidFill>
              </a:rPr>
              <a:t>──────────────────────────────────────────────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Confidence: 0.591 ✅ HIGH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Decision: 🟢 LOCAL execution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Latency: 5.1s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Cost: $0.0000 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(free — answered from memory)</a:t>
            </a:r>
          </a:p>
          <a:p>
            <a:r>
              <a:rPr lang="en-US" sz="1100" dirty="0">
                <a:solidFill>
                  <a:schemeClr val="bg1"/>
                </a:solidFill>
              </a:rPr>
              <a:t>──────────────────────────────────────────────</a:t>
            </a:r>
          </a:p>
          <a:p>
            <a:r>
              <a:rPr lang="en-US" sz="1100" dirty="0">
                <a:solidFill>
                  <a:schemeClr val="bg1"/>
                </a:solidFill>
              </a:rPr>
              <a:t>✅ ANSWER</a:t>
            </a:r>
          </a:p>
          <a:p>
            <a:r>
              <a:rPr lang="en-US" sz="1100" dirty="0">
                <a:solidFill>
                  <a:schemeClr val="bg1"/>
                </a:solidFill>
              </a:rPr>
              <a:t>──────────────────────────────────────────────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Before launching, a Vietnamese payment app would likely need to comply with several regulatory requirements. Here are some of the key compliant measures:</a:t>
            </a:r>
          </a:p>
          <a:p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05200B-20D8-554B-FFC6-63123B0D6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2C35886-EE77-70A2-854E-C77934C25A90}"/>
              </a:ext>
            </a:extLst>
          </p:cNvPr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Cost Decreases Overtime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6E09993-9F1F-37C4-3C31-D72C68867C02}"/>
              </a:ext>
            </a:extLst>
          </p:cNvPr>
          <p:cNvSpPr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AA"/>
                </a:solidFill>
              </a:rPr>
              <a:t>The more it learns, the less it costs.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6DE535F-7622-03AE-C8D2-3F8779F33E84}"/>
              </a:ext>
            </a:extLst>
          </p:cNvPr>
          <p:cNvSpPr/>
          <p:nvPr/>
        </p:nvSpPr>
        <p:spPr>
          <a:xfrm>
            <a:off x="8961120" y="274320"/>
            <a:ext cx="2560320" cy="411480"/>
          </a:xfrm>
          <a:prstGeom prst="roundRect">
            <a:avLst>
              <a:gd name="adj" fmla="val 44444"/>
            </a:avLst>
          </a:prstGeom>
          <a:solidFill>
            <a:srgbClr val="00D6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1C5CB60-AB21-734E-B917-F27FCA8CBABE}"/>
              </a:ext>
            </a:extLst>
          </p:cNvPr>
          <p:cNvSpPr/>
          <p:nvPr/>
        </p:nvSpPr>
        <p:spPr>
          <a:xfrm>
            <a:off x="8961120" y="274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🎬 Cost Curve</a:t>
            </a:r>
            <a:endParaRPr lang="en-US" sz="1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B43D216-D1BC-BF1B-65E9-198145CDAB94}"/>
              </a:ext>
            </a:extLst>
          </p:cNvPr>
          <p:cNvSpPr/>
          <p:nvPr/>
        </p:nvSpPr>
        <p:spPr>
          <a:xfrm>
            <a:off x="548640" y="1280159"/>
            <a:ext cx="10881360" cy="4405937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 w="19050">
            <a:solidFill>
              <a:srgbClr val="00D68F"/>
            </a:solidFill>
            <a:prstDash val="solid"/>
          </a:ln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F8F83E6-7739-8B7E-C39A-2FADC34B26BF}"/>
              </a:ext>
            </a:extLst>
          </p:cNvPr>
          <p:cNvSpPr/>
          <p:nvPr/>
        </p:nvSpPr>
        <p:spPr>
          <a:xfrm>
            <a:off x="762000" y="1438865"/>
            <a:ext cx="4754880" cy="5969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chemeClr val="bg1"/>
                </a:solidFill>
              </a:rPr>
              <a:t>Traditional AI → cost stays flat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Autodidact → cost drops with usage</a:t>
            </a:r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A77BCA07-BB67-EF7B-34DC-4DE5882DE213}"/>
              </a:ext>
            </a:extLst>
          </p:cNvPr>
          <p:cNvSpPr/>
          <p:nvPr/>
        </p:nvSpPr>
        <p:spPr>
          <a:xfrm>
            <a:off x="4012967" y="2272072"/>
            <a:ext cx="3465715" cy="4419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chemeClr val="bg1"/>
                </a:solidFill>
              </a:rPr>
              <a:t>Example of Cost Decrease Projection  :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CB575122-23B7-5ECB-FAA5-7AEA0FFDEC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654877"/>
              </p:ext>
            </p:extLst>
          </p:nvPr>
        </p:nvGraphicFramePr>
        <p:xfrm>
          <a:off x="2032000" y="2819876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03036727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976729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4889900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417425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Month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Month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200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Local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480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Cloud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142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Savings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$680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348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2549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Technical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AA"/>
                </a:solidFill>
              </a:rPr>
              <a:t>One SQLite file. Any model. Pure TypeScript.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961120" y="274320"/>
            <a:ext cx="2560320" cy="411480"/>
          </a:xfrm>
          <a:prstGeom prst="roundRect">
            <a:avLst>
              <a:gd name="adj" fmla="val 44444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0" y="274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🏗️ Architecture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94960" cy="1828800"/>
          </a:xfrm>
          <a:prstGeom prst="roundRect">
            <a:avLst>
              <a:gd name="adj" fmla="val 7500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320040" cy="32004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💾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4173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Local memory</a:t>
            </a:r>
          </a:p>
        </p:txBody>
      </p:sp>
      <p:sp>
        <p:nvSpPr>
          <p:cNvPr id="10" name="Text 8"/>
          <p:cNvSpPr/>
          <p:nvPr/>
        </p:nvSpPr>
        <p:spPr>
          <a:xfrm>
            <a:off x="731520" y="2143461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</a:rPr>
              <a:t>All knowledge persists in local database. The agent's brain. Backupable, inspectable.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5394960" cy="1828800"/>
          </a:xfrm>
          <a:prstGeom prst="roundRect">
            <a:avLst>
              <a:gd name="adj" fmla="val 7500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0" y="146304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0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12280" y="14173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Model Agnostic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143461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</a:rPr>
              <a:t>Works with any models. Swap anytime.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5394960" cy="1828800"/>
          </a:xfrm>
          <a:prstGeom prst="roundRect">
            <a:avLst>
              <a:gd name="adj" fmla="val 7500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3566160"/>
            <a:ext cx="320040" cy="320040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547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5204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Knowledge and skill refresh</a:t>
            </a:r>
          </a:p>
        </p:txBody>
      </p:sp>
      <p:sp>
        <p:nvSpPr>
          <p:cNvPr id="20" name="Text 18"/>
          <p:cNvSpPr/>
          <p:nvPr/>
        </p:nvSpPr>
        <p:spPr>
          <a:xfrm>
            <a:off x="731520" y="420624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Mechanism to determine if local knowledge and skills are outdated and refresh knowledge and skill periodically .</a:t>
            </a:r>
          </a:p>
        </p:txBody>
      </p:sp>
      <p:sp>
        <p:nvSpPr>
          <p:cNvPr id="21" name="Shape 19"/>
          <p:cNvSpPr/>
          <p:nvPr/>
        </p:nvSpPr>
        <p:spPr>
          <a:xfrm>
            <a:off x="6217920" y="3383280"/>
            <a:ext cx="5394960" cy="1828800"/>
          </a:xfrm>
          <a:prstGeom prst="roundRect">
            <a:avLst>
              <a:gd name="adj" fmla="val 7500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0800" y="3566160"/>
            <a:ext cx="320040" cy="320040"/>
          </a:xfrm>
          <a:prstGeom prst="ellipse">
            <a:avLst/>
          </a:prstGeom>
          <a:solidFill>
            <a:srgbClr val="FFA5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3547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📦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2280" y="35204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Continuous Learning Loop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92240" y="420624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Cloud acts as teacher</a:t>
            </a:r>
            <a:r>
              <a:rPr lang="en-US" sz="1300" dirty="0">
                <a:solidFill>
                  <a:srgbClr val="E0E0E0"/>
                </a:solidFill>
              </a:rPr>
              <a:t>.</a:t>
            </a:r>
          </a:p>
          <a:p>
            <a:r>
              <a:rPr lang="en-US" sz="1400" dirty="0">
                <a:solidFill>
                  <a:schemeClr val="bg1"/>
                </a:solidFill>
              </a:rPr>
              <a:t>Knowledge and data stay private.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Market Opportunity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AA"/>
                </a:solidFill>
              </a:rPr>
              <a:t>Who needs this — and how we monetize.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961120" y="274320"/>
            <a:ext cx="2560320" cy="411480"/>
          </a:xfrm>
          <a:prstGeom prst="roundRect">
            <a:avLst>
              <a:gd name="adj" fmla="val 44444"/>
            </a:avLst>
          </a:prstGeom>
          <a:solidFill>
            <a:srgbClr val="00D6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0" y="274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📈 Market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19" y="1280160"/>
            <a:ext cx="3073631" cy="2743200"/>
          </a:xfrm>
          <a:prstGeom prst="roundRect">
            <a:avLst>
              <a:gd name="adj" fmla="val 5172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20040" cy="320040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79" y="1417320"/>
            <a:ext cx="204146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Primary: Enterprise AI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3297" y="2557632"/>
            <a:ext cx="2327564" cy="169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E0E0E0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0E0E0"/>
                </a:solidFill>
              </a:rPr>
              <a:t>Control cloud costs at scale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0E0E0"/>
                </a:solidFill>
              </a:rPr>
              <a:t>Agents that improve over time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0E0E0"/>
                </a:solidFill>
              </a:rPr>
              <a:t>Less data to cloud as agent learns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30732" y="1280160"/>
            <a:ext cx="3073631" cy="2697480"/>
          </a:xfrm>
          <a:prstGeom prst="roundRect">
            <a:avLst>
              <a:gd name="adj" fmla="val 5172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02282" y="1532963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02282" y="1570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5794" y="1444752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Secondary: AI Startups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2089" y="2557632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E0E0"/>
                </a:solidFill>
              </a:rPr>
              <a:t>Unit economics at scale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0E0E0"/>
                </a:solidFill>
              </a:rPr>
              <a:t>Self-improving as competitive edge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0E0E0"/>
                </a:solidFill>
              </a:rPr>
              <a:t>Open-source SDK adoption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12975" y="1257300"/>
            <a:ext cx="3171305" cy="2743200"/>
          </a:xfrm>
          <a:prstGeom prst="roundRect">
            <a:avLst>
              <a:gd name="adj" fmla="val 5172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348057" y="1431671"/>
            <a:ext cx="320040" cy="32004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348057" y="1413383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👤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68791" y="1344856"/>
            <a:ext cx="2286000" cy="4504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Secondary: Personal AI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55627" y="265176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E0E0"/>
                </a:solidFill>
              </a:rPr>
              <a:t>Your own AI on your hardware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0E0E0"/>
                </a:solidFill>
              </a:rPr>
              <a:t>Learns your domain &amp; workflow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0E0E0"/>
                </a:solidFill>
              </a:rPr>
              <a:t>A second brain that grows daily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297680"/>
            <a:ext cx="3474720" cy="1371600"/>
          </a:xfrm>
          <a:prstGeom prst="roundRect">
            <a:avLst>
              <a:gd name="adj" fmla="val 10000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51460" y="4557494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68F"/>
                </a:solidFill>
              </a:rPr>
              <a:t>Open Source SDK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34340" y="498348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AA"/>
                </a:solidFill>
              </a:rPr>
              <a:t>Core framework — MIT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999AA"/>
                </a:solidFill>
              </a:rPr>
              <a:t>Drive adoption, build community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06240" y="4297680"/>
            <a:ext cx="3474720" cy="1371600"/>
          </a:xfrm>
          <a:prstGeom prst="roundRect">
            <a:avLst>
              <a:gd name="adj" fmla="val 10000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075659" y="4557494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</a:rPr>
              <a:t>Autodidact Cloud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258539" y="498348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AA"/>
                </a:solidFill>
              </a:rPr>
              <a:t>Managed knowledge stores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999AA"/>
                </a:solidFill>
              </a:rPr>
              <a:t>Team sharing &amp; analytics — SaaS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55280" y="4297680"/>
            <a:ext cx="3474720" cy="1371600"/>
          </a:xfrm>
          <a:prstGeom prst="roundRect">
            <a:avLst>
              <a:gd name="adj" fmla="val 10000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909560" y="4557494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A502"/>
                </a:solidFill>
              </a:rPr>
              <a:t>Skill Marketplace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092440" y="498348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AA"/>
                </a:solidFill>
              </a:rPr>
              <a:t>Domain-specific skill packs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999AA"/>
                </a:solidFill>
              </a:rPr>
              <a:t>(Legal, Finance, Support)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Competitive Landscape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AA"/>
                </a:solidFill>
              </a:rPr>
              <a:t>Memory is remembering. Learning is getting smarter.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961120" y="274320"/>
            <a:ext cx="2560320" cy="411480"/>
          </a:xfrm>
          <a:prstGeom prst="roundRect">
            <a:avLst>
              <a:gd name="adj" fmla="val 44444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0" y="274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🏆 Differentiation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0972800" cy="3511296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C5CE7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0E0E0"/>
                          </a:solidFill>
                        </a:rPr>
                        <a:t>LangChain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0E0E0"/>
                          </a:solidFill>
                        </a:rPr>
                        <a:t>CrewAI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0E0E0"/>
                          </a:solidFill>
                        </a:rPr>
                        <a:t>AutoGen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C5CE7"/>
                          </a:solidFill>
                        </a:rPr>
                        <a:t>Autodidact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</a:rPr>
                        <a:t>Agent orchestration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0E0E0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0E0E0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0E0E0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0E0E0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</a:rPr>
                        <a:t>Basic memory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0E0E0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0E0E0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0E0E0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0E0E0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</a:rPr>
                        <a:t>Persistent long-term memory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0E0E0"/>
                          </a:solidFill>
                        </a:rPr>
                        <a:t>⚠️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0E0E0"/>
                          </a:solidFill>
                        </a:rPr>
                        <a:t>⚠️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0E0E0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D68F"/>
                          </a:solidFill>
                        </a:rPr>
                        <a:t>✅ Tiered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</a:rPr>
                        <a:t>Learns from every interaction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0E0E0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0E0E0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0E0E0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D68F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</a:rPr>
                        <a:t>Measurable improvement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0E0E0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0E0E0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0E0E0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D68F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</a:rPr>
                        <a:t>Self-verification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0E0E0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0E0E0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0E0E0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D68F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</a:rPr>
                        <a:t>Cost reduction over time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0E0E0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0E0E0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0E0E0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D68F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303520"/>
            <a:ext cx="10972800" cy="731520"/>
          </a:xfrm>
          <a:prstGeom prst="roundRect">
            <a:avLst>
              <a:gd name="adj" fmla="val 18750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5645076"/>
            <a:ext cx="10424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502"/>
                </a:solidFill>
              </a:rPr>
              <a:t>We don't replace these frameworks — we add the learning layer they're all missing. Autodidact can sit on top of them.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Traction &amp;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AA"/>
                </a:solidFill>
              </a:rPr>
              <a:t>Where we are and where we're going.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961120" y="274320"/>
            <a:ext cx="2560320" cy="411480"/>
          </a:xfrm>
          <a:prstGeom prst="roundRect">
            <a:avLst>
              <a:gd name="adj" fmla="val 44444"/>
            </a:avLst>
          </a:prstGeom>
          <a:solidFill>
            <a:srgbClr val="00D6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0" y="274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📍 Status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59"/>
            <a:ext cx="5303520" cy="3762895"/>
          </a:xfrm>
          <a:prstGeom prst="roundRect">
            <a:avLst>
              <a:gd name="adj" fmla="val 4286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320040" cy="320040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4173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Current Status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chemeClr val="bg1"/>
                </a:solidFill>
              </a:rPr>
              <a:t>✅  Working prototype (local + cloud fallback)</a:t>
            </a:r>
          </a:p>
          <a:p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✅  Demonstrated learning loop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     ESCALATE → learn → LOCAL</a:t>
            </a:r>
          </a:p>
          <a:p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✅ Measurable improvement: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    ↑ confidence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    ↓ latency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   ↓ cost</a:t>
            </a:r>
            <a:br>
              <a:rPr lang="en-US" sz="1400" dirty="0">
                <a:solidFill>
                  <a:schemeClr val="bg1"/>
                </a:solidFill>
              </a:rPr>
            </a:b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🎯 Demo-ready for semi-finals</a:t>
            </a:r>
          </a:p>
        </p:txBody>
      </p:sp>
      <p:sp>
        <p:nvSpPr>
          <p:cNvPr id="11" name="Shape 9"/>
          <p:cNvSpPr/>
          <p:nvPr/>
        </p:nvSpPr>
        <p:spPr>
          <a:xfrm>
            <a:off x="6126480" y="1280160"/>
            <a:ext cx="5303520" cy="3762894"/>
          </a:xfrm>
          <a:prstGeom prst="roundRect">
            <a:avLst>
              <a:gd name="adj" fmla="val 4286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0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🗺️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20840" y="14173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Roadmap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192024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00" b="1" dirty="0">
                <a:solidFill>
                  <a:srgbClr val="4A90D9"/>
                </a:solidFill>
              </a:rPr>
              <a:t>Phase 1: </a:t>
            </a:r>
            <a:r>
              <a:rPr lang="en-US" sz="1300" b="1" dirty="0">
                <a:solidFill>
                  <a:schemeClr val="bg1">
                    <a:lumMod val="75000"/>
                  </a:schemeClr>
                </a:solidFill>
              </a:rPr>
              <a:t>Complete learning, confident scoring, routing frameworks and release open source SDK</a:t>
            </a:r>
          </a:p>
          <a:p>
            <a:r>
              <a:rPr lang="en-US" sz="1300" b="1" dirty="0">
                <a:solidFill>
                  <a:srgbClr val="4A90D9"/>
                </a:solidFill>
              </a:rPr>
              <a:t>Phase 2: </a:t>
            </a:r>
            <a:r>
              <a:rPr lang="en-US" sz="1300" b="1" dirty="0">
                <a:solidFill>
                  <a:schemeClr val="bg1">
                    <a:lumMod val="75000"/>
                  </a:schemeClr>
                </a:solidFill>
              </a:rPr>
              <a:t>Enterprise Autodidact Product, Personal Assistant Autodidact Product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4A90D9"/>
                </a:solidFill>
              </a:rPr>
              <a:t>Phase 3: </a:t>
            </a:r>
            <a:r>
              <a:rPr lang="en-US" sz="1300" dirty="0">
                <a:solidFill>
                  <a:srgbClr val="E0E0E0"/>
                </a:solidFill>
              </a:rPr>
              <a:t>Web search as escalation source
               Skill sharing marketplace
</a:t>
            </a:r>
            <a:r>
              <a:rPr lang="en-US" sz="1300" b="1" dirty="0">
                <a:solidFill>
                  <a:srgbClr val="6C5CE7"/>
                </a:solidFill>
              </a:rPr>
              <a:t>Phase 4: </a:t>
            </a:r>
            <a:r>
              <a:rPr lang="en-US" sz="1300" dirty="0">
                <a:solidFill>
                  <a:srgbClr val="E0E0E0"/>
                </a:solidFill>
              </a:rPr>
              <a:t>Swarm learning - agents share
knowledge across deployments
</a:t>
            </a:r>
            <a:r>
              <a:rPr lang="en-US" sz="1300" b="1" dirty="0">
                <a:solidFill>
                  <a:srgbClr val="00D68F"/>
                </a:solidFill>
              </a:rPr>
              <a:t>Phase 5: </a:t>
            </a:r>
            <a:r>
              <a:rPr lang="en-US" sz="1300" dirty="0">
                <a:solidFill>
                  <a:srgbClr val="E0E0E0"/>
                </a:solidFill>
              </a:rPr>
              <a:t>Local model fine-tuning from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</a:rPr>
              <a:t>accumulated knowledge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Team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961120" y="274320"/>
            <a:ext cx="2560320" cy="411480"/>
          </a:xfrm>
          <a:prstGeom prst="roundRect">
            <a:avLst>
              <a:gd name="adj" fmla="val 44444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961120" y="274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👥 Team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0" y="1731818"/>
            <a:ext cx="7315200" cy="27432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286000" y="21031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[Ngoc Luong (Paul) Nguyen]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0" y="2471673"/>
            <a:ext cx="6400800" cy="8173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Machine Learning Engineer | Researcher | PhD | Ex-Young Buffalo Herder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274320"/>
            <a:ext cx="2560320" cy="411480"/>
          </a:xfrm>
          <a:prstGeom prst="roundRect">
            <a:avLst>
              <a:gd name="adj" fmla="val 44444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61120" y="274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🤝 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73152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We're Looking For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291840" cy="1828800"/>
          </a:xfrm>
          <a:prstGeom prst="roundRect">
            <a:avLst>
              <a:gd name="adj" fmla="val 7500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320040" cy="32004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8105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7830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Mentorship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466109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</a:rPr>
              <a:t>Go-to-market strategy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</a:rPr>
              <a:t>for developer tools in SEA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1645920"/>
            <a:ext cx="3291840" cy="1828800"/>
          </a:xfrm>
          <a:prstGeom prst="roundRect">
            <a:avLst>
              <a:gd name="adj" fmla="val 7500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18105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4920" y="17830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Connections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24400" y="2466109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</a:rPr>
              <a:t>Early adopter enterprises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</a:rPr>
              <a:t>and AI startups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1645920"/>
            <a:ext cx="3291840" cy="1828800"/>
          </a:xfrm>
          <a:prstGeom prst="roundRect">
            <a:avLst>
              <a:gd name="adj" fmla="val 7500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12480" y="1828800"/>
            <a:ext cx="320040" cy="320040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12480" y="18105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23960" y="17830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Investment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15004" y="2466109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</a:rPr>
              <a:t>Pre-seed funding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</a:rPr>
              <a:t>introductions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371600" y="3931920"/>
            <a:ext cx="9144000" cy="1645920"/>
          </a:xfrm>
          <a:prstGeom prst="roundRect">
            <a:avLst>
              <a:gd name="adj" fmla="val 8333"/>
            </a:avLst>
          </a:prstGeom>
          <a:solidFill>
            <a:srgbClr val="252540"/>
          </a:solidFill>
          <a:ln/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71600" y="40233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i="1" dirty="0">
              <a:solidFill>
                <a:srgbClr val="6C5CE7"/>
              </a:solidFill>
            </a:endParaRPr>
          </a:p>
          <a:p>
            <a:pPr marL="0" indent="0" algn="ctr">
              <a:buNone/>
            </a:pPr>
            <a:endParaRPr lang="en-US" i="1" dirty="0">
              <a:solidFill>
                <a:srgbClr val="6C5CE7"/>
              </a:solidFill>
            </a:endParaRPr>
          </a:p>
          <a:p>
            <a:pPr marL="0" indent="0" algn="ctr">
              <a:buNone/>
            </a:pPr>
            <a:endParaRPr lang="en-US" sz="1800" i="1" dirty="0">
              <a:solidFill>
                <a:srgbClr val="6C5CE7"/>
              </a:solidFill>
            </a:endParaRPr>
          </a:p>
          <a:p>
            <a:pPr marL="0" indent="0" algn="ctr">
              <a:buNone/>
            </a:pPr>
            <a:r>
              <a:rPr lang="en-US" sz="1800" i="1" dirty="0">
                <a:solidFill>
                  <a:srgbClr val="6C5CE7"/>
                </a:solidFill>
              </a:rPr>
              <a:t>"The future of AI agents isn't smarter models.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i="1" dirty="0">
                <a:solidFill>
                  <a:srgbClr val="6C5CE7"/>
                </a:solidFill>
              </a:rPr>
              <a:t>It's agents that remember what they've learned."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846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b="1" dirty="0">
              <a:solidFill>
                <a:srgbClr val="00D68F"/>
              </a:solidFill>
            </a:endParaRPr>
          </a:p>
          <a:p>
            <a:pPr marL="0" indent="0" algn="ctr">
              <a:buNone/>
            </a:pPr>
            <a:r>
              <a:rPr lang="en-US" sz="2800" b="1" dirty="0">
                <a:solidFill>
                  <a:srgbClr val="00D68F"/>
                </a:solidFill>
              </a:rPr>
              <a:t>That's Autodidact.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1445</Words>
  <Application>Microsoft Macintosh PowerPoint</Application>
  <PresentationFormat>Widescreen</PresentationFormat>
  <Paragraphs>327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Autodidact - Vietnam AI Stars 2026</dc:title>
  <dc:subject>PptxGenJS Presentation</dc:subject>
  <dc:creator>Autodidact Team</dc:creator>
  <cp:lastModifiedBy>Nguyen, Paul</cp:lastModifiedBy>
  <cp:revision>9</cp:revision>
  <dcterms:created xsi:type="dcterms:W3CDTF">2026-04-14T18:15:15Z</dcterms:created>
  <dcterms:modified xsi:type="dcterms:W3CDTF">2026-04-15T06:06:01Z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2026-04-14T18:33:21Z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9cb75035-8682-4299-b917-a9430cbda560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